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4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wide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Master" Target="slideMasters/slideMaster1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00" name="Box 100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</p:sp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685800" y="1143000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3000" dirty="0">
                <a:b/>
                <a:solidFill>
                  <a:srgbClr val="1F2937"/>
                </a:solidFill>
                <a:latin typeface="Microsoft YaHei"/>
                <a:ea typeface="Microsoft YaHei"/>
              </a:rPr>
              <a:t>人形机器人模仿学习数据录制与真机策略推理</a:t>
            </a:r>
            <a:endParaRPr lang="zh-CN"/>
          </a:p>
        </p:txBody>
      </p:sp>
      <p:sp>
        <p:nvSpPr>
          <p:cNvPr id="5" name="TextBox 5"/>
          <p:cNvSpPr txBox="1"/>
          <p:nvPr/>
        </p:nvSpPr>
        <p:spPr>
          <a:xfrm>
            <a:off x="713232" y="1938528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700" dirty="0">
                <a:solidFill>
                  <a:srgbClr val="64748B"/>
                </a:solidFill>
                <a:latin typeface="Microsoft YaHei"/>
                <a:ea typeface="Microsoft YaHei"/>
              </a:rPr>
              <a:t>从示范采集、行为克隆训练，到 ROS 2 真机部署的完整链路</a:t>
            </a:r>
            <a:endParaRPr lang="zh-CN"/>
          </a:p>
        </p:txBody>
      </p:sp>
      <p:sp>
        <p:nvSpPr>
          <p:cNvPr id="6" name="Box 6"/>
          <p:cNvSpPr/>
          <p:nvPr/>
        </p:nvSpPr>
        <p:spPr>
          <a:xfrm>
            <a:off x="713232" y="2880360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2000" dirty="0">
                <a:b/>
                <a:solidFill>
                  <a:srgbClr val="1F2937"/>
                </a:solidFill>
                <a:latin typeface="Microsoft YaHei"/>
                <a:ea typeface="Microsoft YaHei"/>
              </a:rPr>
              <a:t>数据录制</a:t>
            </a:r>
          </a:p>
        </p:txBody>
      </p:sp>
      <p:sp>
        <p:nvSpPr>
          <p:cNvPr id="7" name="Box 7"/>
          <p:cNvSpPr/>
          <p:nvPr/>
        </p:nvSpPr>
        <p:spPr>
          <a:xfrm>
            <a:off x="3657600" y="2880360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2000" dirty="0">
                <a:b/>
                <a:solidFill>
                  <a:srgbClr val="1F2937"/>
                </a:solidFill>
                <a:latin typeface="Microsoft YaHei"/>
                <a:ea typeface="Microsoft YaHei"/>
              </a:rPr>
              <a:t>模型训练</a:t>
            </a:r>
          </a:p>
        </p:txBody>
      </p:sp>
      <p:sp>
        <p:nvSpPr>
          <p:cNvPr id="8" name="Box 8"/>
          <p:cNvSpPr/>
          <p:nvPr/>
        </p:nvSpPr>
        <p:spPr>
          <a:xfrm>
            <a:off x="6601968" y="2880360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2000" dirty="0">
                <a:b/>
                <a:solidFill>
                  <a:srgbClr val="1F2937"/>
                </a:solidFill>
                <a:latin typeface="Microsoft YaHei"/>
                <a:ea typeface="Microsoft YaHei"/>
              </a:rPr>
              <a:t>ROS 推理</a:t>
            </a:r>
          </a:p>
        </p:txBody>
      </p:sp>
      <p:sp>
        <p:nvSpPr>
          <p:cNvPr id="9" name="Box 9"/>
          <p:cNvSpPr/>
          <p:nvPr/>
        </p:nvSpPr>
        <p:spPr>
          <a:xfrm>
            <a:off x="9546336" y="2880360"/>
            <a:ext cx="1965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2000" dirty="0">
                <a:b/>
                <a:solidFill>
                  <a:srgbClr val="1F2937"/>
                </a:solidFill>
                <a:latin typeface="Microsoft YaHei"/>
                <a:ea typeface="Microsoft YaHei"/>
              </a:rPr>
              <a:t>真机执行</a:t>
            </a:r>
          </a:p>
        </p:txBody>
      </p:sp>
      <p:cxnSp>
        <p:nvCxnSpPr>
          <p:cNvPr id="10" name="Line 10"/>
          <p:cNvCxnSpPr/>
          <p:nvPr/>
        </p:nvCxnSpPr>
        <p:spPr>
          <a:xfrm>
            <a:off x="3456432" y="3337560"/>
            <a:ext cx="201168" cy="0"/>
          </a:xfrm>
          <a:prstGeom prst="straightConnector1">
            <a:avLst/>
          </a:prstGeom>
          <a:ln w="25400">
            <a:solidFill>
              <a:srgbClr val="2563EB"/>
            </a:solidFill>
            <a:tailEnd type="none"/>
            <a:headEnd type="triangle"/>
          </a:ln>
        </p:spPr>
      </p:cxnSp>
      <p:cxnSp>
        <p:nvCxnSpPr>
          <p:cNvPr id="11" name="Line 11"/>
          <p:cNvCxnSpPr/>
          <p:nvPr/>
        </p:nvCxnSpPr>
        <p:spPr>
          <a:xfrm>
            <a:off x="6400800" y="3337560"/>
            <a:ext cx="201167" cy="0"/>
          </a:xfrm>
          <a:prstGeom prst="straightConnector1">
            <a:avLst/>
          </a:prstGeom>
          <a:ln w="25400">
            <a:solidFill>
              <a:srgbClr val="2563EB"/>
            </a:solidFill>
            <a:tailEnd type="none"/>
            <a:headEnd type="triangle"/>
          </a:ln>
        </p:spPr>
      </p:cxnSp>
      <p:cxnSp>
        <p:nvCxnSpPr>
          <p:cNvPr id="12" name="Line 12"/>
          <p:cNvCxnSpPr/>
          <p:nvPr/>
        </p:nvCxnSpPr>
        <p:spPr>
          <a:xfrm>
            <a:off x="9345168" y="3337560"/>
            <a:ext cx="201167" cy="0"/>
          </a:xfrm>
          <a:prstGeom prst="straightConnector1">
            <a:avLst/>
          </a:prstGeom>
          <a:ln w="25400">
            <a:solidFill>
              <a:srgbClr val="2563EB"/>
            </a:solidFill>
            <a:tailEnd type="none"/>
            <a:headEnd type="triangle"/>
          </a:ln>
        </p:spPr>
      </p:cxnSp>
      <p:sp>
        <p:nvSpPr>
          <p:cNvPr id="13" name="TextBox 13"/>
          <p:cNvSpPr txBox="1"/>
          <p:nvPr/>
        </p:nvSpPr>
        <p:spPr>
          <a:xfrm>
            <a:off x="749808" y="580644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汇报内容：工程流程、数据格式、模型结构、部署方式、风险与后续计划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00" name="Box 100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</p:sp>
      <p:sp>
        <p:nvSpPr>
          <p:cNvPr id="2" name="Box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800" dirty="0">
                <a:b/>
                <a:solidFill>
                  <a:srgbClr val="1F2937"/>
                </a:solidFill>
                <a:latin typeface="Microsoft YaHei"/>
                <a:ea typeface="Microsoft YaHei"/>
              </a:rPr>
              <a:t>1. 课题目标与当前方案</a:t>
            </a:r>
            <a:endParaRPr lang="zh-CN"/>
          </a:p>
        </p:txBody>
      </p:sp>
      <p:sp>
        <p:nvSpPr>
          <p:cNvPr id="4" name="TextBox 4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用人工遥操作示范训练右臂抓取策略，并在 ROS 中实现真机推理</a:t>
            </a:r>
            <a:endParaRPr lang="zh-CN"/>
          </a:p>
        </p:txBody>
      </p:sp>
      <p:sp>
        <p:nvSpPr>
          <p:cNvPr id="5" name="TextBox 5"/>
          <p:cNvSpPr txBox="1"/>
          <p:nvPr/>
        </p:nvSpPr>
        <p:spPr>
          <a:xfrm>
            <a:off x="731520" y="1508760"/>
            <a:ext cx="5212080" cy="4206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28600" indent="-171450">
              <a:buChar char="•"/>
            </a:pPr>
            <a:r>
              <a:rPr lang="zh-CN" sz="1800" dirty="0">
                <a:solidFill>
                  <a:srgbClr val="1F2937"/>
                </a:solidFill>
                <a:latin typeface="Microsoft YaHei"/>
                <a:ea typeface="Microsoft YaHei"/>
              </a:rPr>
              <a:t>目标：让右臂学习人工示范中的关节运动与夹爪开合</a:t>
            </a:r>
            <a:endParaRPr lang="zh-CN"/>
          </a:p>
          <a:p>
            <a:pPr marL="228600" indent="-171450">
              <a:buChar char="•"/>
            </a:pPr>
            <a:r>
              <a:rPr lang="zh-CN" sz="1800" dirty="0">
                <a:solidFill>
                  <a:srgbClr val="1F2937"/>
                </a:solidFill>
                <a:latin typeface="Microsoft YaHei"/>
                <a:ea typeface="Microsoft YaHei"/>
              </a:rPr>
              <a:t>当前阶段：先建立低维状态行为克隆基线，保证工程链路打通</a:t>
            </a:r>
            <a:endParaRPr lang="zh-CN"/>
          </a:p>
          <a:p>
            <a:pPr marL="228600" indent="-171450">
              <a:buChar char="•"/>
            </a:pPr>
            <a:r>
              <a:rPr lang="zh-CN" sz="1800" dirty="0">
                <a:solidFill>
                  <a:srgbClr val="1F2937"/>
                </a:solidFill>
                <a:latin typeface="Microsoft YaHei"/>
                <a:ea typeface="Microsoft YaHei"/>
              </a:rPr>
              <a:t>输入：右臂关节位置 6 + 速度 6 + 夹爪状态 1 = 13 维</a:t>
            </a:r>
            <a:endParaRPr lang="zh-CN"/>
          </a:p>
          <a:p>
            <a:pPr marL="228600" indent="-171450">
              <a:buChar char="•"/>
            </a:pPr>
            <a:r>
              <a:rPr lang="zh-CN" sz="1800" dirty="0">
                <a:solidFill>
                  <a:srgbClr val="1F2937"/>
                </a:solidFill>
                <a:latin typeface="Microsoft YaHei"/>
                <a:ea typeface="Microsoft YaHei"/>
              </a:rPr>
              <a:t>输出：右臂关节目标 6 + 夹爪命令 1 = 7 维</a:t>
            </a:r>
            <a:endParaRPr lang="zh-CN"/>
          </a:p>
          <a:p>
            <a:pPr marL="228600" indent="-171450">
              <a:buChar char="•"/>
            </a:pPr>
            <a:r>
              <a:rPr lang="zh-CN" sz="1800" dirty="0">
                <a:solidFill>
                  <a:srgbClr val="1F2937"/>
                </a:solidFill>
                <a:latin typeface="Microsoft YaHei"/>
                <a:ea typeface="Microsoft YaHei"/>
              </a:rPr>
              <a:t>部署：ROS 2 节点实时订阅 /joint_states 并发布控制命令</a:t>
            </a:r>
            <a:endParaRPr lang="zh-CN"/>
          </a:p>
        </p:txBody>
      </p:sp>
      <p:sp>
        <p:nvSpPr>
          <p:cNvPr id="6" name="Box 6"/>
          <p:cNvSpPr/>
          <p:nvPr/>
        </p:nvSpPr>
        <p:spPr>
          <a:xfrm>
            <a:off x="6492240" y="1600200"/>
            <a:ext cx="43891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812280" y="190195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400" dirty="0">
                <a:b/>
                <a:solidFill>
                  <a:srgbClr val="2563EB"/>
                </a:solidFill>
                <a:latin typeface="Microsoft YaHei"/>
                <a:ea typeface="Microsoft YaHei"/>
              </a:rPr>
              <a:t>行为克隆 BC</a:t>
            </a:r>
            <a:endParaRPr lang="zh-CN"/>
          </a:p>
        </p:txBody>
      </p:sp>
      <p:sp>
        <p:nvSpPr>
          <p:cNvPr id="8" name="TextBox 8"/>
          <p:cNvSpPr txBox="1"/>
          <p:nvPr/>
        </p:nvSpPr>
        <p:spPr>
          <a:xfrm>
            <a:off x="6812280" y="2578608"/>
            <a:ext cx="3566160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800" dirty="0">
                <a:solidFill>
                  <a:srgbClr val="1F2937"/>
                </a:solidFill>
                <a:latin typeface="Microsoft YaHei"/>
                <a:ea typeface="Microsoft YaHei"/>
              </a:rPr>
              <a:t>监督学习：让模型输出动作尽量接近示范动作</a:t>
            </a:r>
            <a:endParaRPr lang="zh-CN"/>
          </a:p>
          <a:p>
            <a:r>
              <a:rPr lang="zh-CN" sz="1600" dirty="0">
                <a:solidFill>
                  <a:srgbClr val="64748B"/>
                </a:solidFill>
                <a:latin typeface="Microsoft YaHei"/>
                <a:ea typeface="Microsoft YaHei"/>
              </a:rPr>
              <a:t>Loss = MSE(pred_action, demo_action)</a:t>
            </a: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00" name="Box 100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</p:sp>
      <p:sp>
        <p:nvSpPr>
          <p:cNvPr id="2" name="Box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800" dirty="0">
                <a:b/>
                <a:solidFill>
                  <a:srgbClr val="1F2937"/>
                </a:solidFill>
                <a:latin typeface="Microsoft YaHei"/>
                <a:ea typeface="Microsoft YaHei"/>
              </a:rPr>
              <a:t>2. 系统总体流程</a:t>
            </a:r>
            <a:endParaRPr lang="zh-CN"/>
          </a:p>
        </p:txBody>
      </p:sp>
      <p:sp>
        <p:nvSpPr>
          <p:cNvPr id="4" name="TextBox 4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录制、验证、转换、训练、推理形成闭环</a:t>
            </a:r>
            <a:endParaRPr lang="zh-CN"/>
          </a:p>
        </p:txBody>
      </p:sp>
      <p:sp>
        <p:nvSpPr>
          <p:cNvPr id="5" name="Box 5"/>
          <p:cNvSpPr/>
          <p:nvPr/>
        </p:nvSpPr>
        <p:spPr>
          <a:xfrm>
            <a:off x="685800" y="1828800"/>
            <a:ext cx="18288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700" dirty="0">
                <a:b/>
                <a:solidFill>
                  <a:srgbClr val="1F2937"/>
                </a:solidFill>
                <a:latin typeface="Microsoft YaHei"/>
                <a:ea typeface="Microsoft YaHei"/>
              </a:rPr>
              <a:t>人工遥操作</a:t>
            </a:r>
          </a:p>
        </p:txBody>
      </p:sp>
      <p:cxnSp>
        <p:nvCxnSpPr>
          <p:cNvPr id="6" name="Line 6"/>
          <p:cNvCxnSpPr/>
          <p:nvPr/>
        </p:nvCxnSpPr>
        <p:spPr>
          <a:xfrm>
            <a:off x="2514600" y="2217420"/>
            <a:ext cx="347471" cy="0"/>
          </a:xfrm>
          <a:prstGeom prst="straightConnector1">
            <a:avLst/>
          </a:prstGeom>
          <a:ln w="25400">
            <a:solidFill>
              <a:srgbClr val="EA580C"/>
            </a:solidFill>
            <a:tailEnd type="none"/>
            <a:headEnd type="triangle"/>
          </a:ln>
        </p:spPr>
      </p:cxnSp>
      <p:sp>
        <p:nvSpPr>
          <p:cNvPr id="7" name="Box 7"/>
          <p:cNvSpPr/>
          <p:nvPr/>
        </p:nvSpPr>
        <p:spPr>
          <a:xfrm>
            <a:off x="2862072" y="1828800"/>
            <a:ext cx="18288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700" dirty="0">
                <a:b/>
                <a:solidFill>
                  <a:srgbClr val="1F2937"/>
                </a:solidFill>
                <a:latin typeface="Microsoft YaHei"/>
                <a:ea typeface="Microsoft YaHei"/>
              </a:rPr>
              <a:t>Raw Episode</a:t>
            </a:r>
          </a:p>
        </p:txBody>
      </p:sp>
      <p:cxnSp>
        <p:nvCxnSpPr>
          <p:cNvPr id="8" name="Line 8"/>
          <p:cNvCxnSpPr/>
          <p:nvPr/>
        </p:nvCxnSpPr>
        <p:spPr>
          <a:xfrm>
            <a:off x="4690872" y="2217420"/>
            <a:ext cx="347471" cy="0"/>
          </a:xfrm>
          <a:prstGeom prst="straightConnector1">
            <a:avLst/>
          </a:prstGeom>
          <a:ln w="25400">
            <a:solidFill>
              <a:srgbClr val="2563EB"/>
            </a:solidFill>
            <a:tailEnd type="none"/>
            <a:headEnd type="triangle"/>
          </a:ln>
        </p:spPr>
      </p:cxnSp>
      <p:sp>
        <p:nvSpPr>
          <p:cNvPr id="9" name="Box 9"/>
          <p:cNvSpPr/>
          <p:nvPr/>
        </p:nvSpPr>
        <p:spPr>
          <a:xfrm>
            <a:off x="5038344" y="1828800"/>
            <a:ext cx="18288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700" dirty="0">
                <a:b/>
                <a:solidFill>
                  <a:srgbClr val="1F2937"/>
                </a:solidFill>
                <a:latin typeface="Microsoft YaHei"/>
                <a:ea typeface="Microsoft YaHei"/>
              </a:rPr>
              <a:t>数据校验</a:t>
            </a:r>
          </a:p>
        </p:txBody>
      </p:sp>
      <p:cxnSp>
        <p:nvCxnSpPr>
          <p:cNvPr id="10" name="Line 10"/>
          <p:cNvCxnSpPr/>
          <p:nvPr/>
        </p:nvCxnSpPr>
        <p:spPr>
          <a:xfrm>
            <a:off x="6867144" y="2217420"/>
            <a:ext cx="347471" cy="0"/>
          </a:xfrm>
          <a:prstGeom prst="straightConnector1">
            <a:avLst/>
          </a:prstGeom>
          <a:ln w="25400">
            <a:solidFill>
              <a:srgbClr val="16A34A"/>
            </a:solidFill>
            <a:tailEnd type="none"/>
            <a:headEnd type="triangle"/>
          </a:ln>
        </p:spPr>
      </p:cxnSp>
      <p:sp>
        <p:nvSpPr>
          <p:cNvPr id="11" name="Box 11"/>
          <p:cNvSpPr/>
          <p:nvPr/>
        </p:nvSpPr>
        <p:spPr>
          <a:xfrm>
            <a:off x="7214616" y="1828800"/>
            <a:ext cx="18288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700" dirty="0">
                <a:b/>
                <a:solidFill>
                  <a:srgbClr val="1F2937"/>
                </a:solidFill>
                <a:latin typeface="Microsoft YaHei"/>
                <a:ea typeface="Microsoft YaHei"/>
              </a:rPr>
              <a:t>Dataset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9043416" y="2217420"/>
            <a:ext cx="347472" cy="0"/>
          </a:xfrm>
          <a:prstGeom prst="straightConnector1">
            <a:avLst/>
          </a:prstGeom>
          <a:ln w="25400">
            <a:solidFill>
              <a:srgbClr val="0891B2"/>
            </a:solidFill>
            <a:tailEnd type="none"/>
            <a:headEnd type="triangle"/>
          </a:ln>
        </p:spPr>
      </p:cxnSp>
      <p:sp>
        <p:nvSpPr>
          <p:cNvPr id="13" name="Box 13"/>
          <p:cNvSpPr/>
          <p:nvPr/>
        </p:nvSpPr>
        <p:spPr>
          <a:xfrm>
            <a:off x="9390888" y="1828800"/>
            <a:ext cx="18288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700" dirty="0">
                <a:b/>
                <a:solidFill>
                  <a:srgbClr val="1F2937"/>
                </a:solidFill>
                <a:latin typeface="Microsoft YaHei"/>
                <a:ea typeface="Microsoft YaHei"/>
              </a:rPr>
              <a:t>BC 训练</a:t>
            </a:r>
          </a:p>
        </p:txBody>
      </p:sp>
      <p:cxnSp>
        <p:nvCxnSpPr>
          <p:cNvPr id="14" name="Line 14"/>
          <p:cNvCxnSpPr/>
          <p:nvPr/>
        </p:nvCxnSpPr>
        <p:spPr>
          <a:xfrm>
            <a:off x="11219688" y="2217420"/>
            <a:ext cx="347472" cy="0"/>
          </a:xfrm>
          <a:prstGeom prst="straightConnector1">
            <a:avLst/>
          </a:prstGeom>
          <a:ln w="25400">
            <a:solidFill>
              <a:srgbClr val="7C3AED"/>
            </a:solidFill>
            <a:tailEnd type="none"/>
            <a:headEnd type="triangle"/>
          </a:ln>
        </p:spPr>
      </p:cxnSp>
      <p:sp>
        <p:nvSpPr>
          <p:cNvPr id="15" name="Box 15"/>
          <p:cNvSpPr/>
          <p:nvPr/>
        </p:nvSpPr>
        <p:spPr>
          <a:xfrm>
            <a:off x="11567159" y="1828800"/>
            <a:ext cx="18288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700" dirty="0">
                <a:b/>
                <a:solidFill>
                  <a:srgbClr val="1F2937"/>
                </a:solidFill>
                <a:latin typeface="Microsoft YaHei"/>
                <a:ea typeface="Microsoft YaHei"/>
              </a:rPr>
              <a:t>ROS 推理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8680" y="3200400"/>
            <a:ext cx="102412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000" dirty="0">
                <a:solidFill>
                  <a:srgbClr val="1F2937"/>
                </a:solidFill>
                <a:latin typeface="Microsoft YaHei"/>
                <a:ea typeface="Microsoft YaHei"/>
              </a:rPr>
              <a:t>核心思想：先把真机示范规范化成可训练数据，再用同一套状态/动作定义训练模型，最后用 ROS 节点把模型输出接回真机控制话题。</a:t>
            </a:r>
            <a:endParaRPr lang="zh-CN"/>
          </a:p>
        </p:txBody>
      </p:sp>
      <p:sp>
        <p:nvSpPr>
          <p:cNvPr id="26" name="Box 26"/>
          <p:cNvSpPr/>
          <p:nvPr/>
        </p:nvSpPr>
        <p:spPr>
          <a:xfrm>
            <a:off x="1005840" y="4800600"/>
            <a:ext cx="2971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600" dirty="0">
                <a:solidFill>
                  <a:srgbClr val="1F2937"/>
                </a:solidFill>
                <a:latin typeface="Microsoft YaHei"/>
                <a:ea typeface="Microsoft YaHei"/>
              </a:rPr>
              <a:t>data/imitation_raw</a:t>
            </a:r>
          </a:p>
        </p:txBody>
      </p:sp>
      <p:sp>
        <p:nvSpPr>
          <p:cNvPr id="27" name="Box 27"/>
          <p:cNvSpPr/>
          <p:nvPr/>
        </p:nvSpPr>
        <p:spPr>
          <a:xfrm>
            <a:off x="4572000" y="4800600"/>
            <a:ext cx="2971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600" dirty="0">
                <a:solidFill>
                  <a:srgbClr val="1F2937"/>
                </a:solidFill>
                <a:latin typeface="Microsoft YaHei"/>
                <a:ea typeface="Microsoft YaHei"/>
              </a:rPr>
              <a:t>data/imitation_converted</a:t>
            </a:r>
          </a:p>
        </p:txBody>
      </p:sp>
      <p:sp>
        <p:nvSpPr>
          <p:cNvPr id="28" name="Box 28"/>
          <p:cNvSpPr/>
          <p:nvPr/>
        </p:nvSpPr>
        <p:spPr>
          <a:xfrm>
            <a:off x="8138160" y="4800600"/>
            <a:ext cx="2788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600" dirty="0">
                <a:solidFill>
                  <a:srgbClr val="1F2937"/>
                </a:solidFill>
                <a:latin typeface="Microsoft YaHei"/>
                <a:ea typeface="Microsoft YaHei"/>
              </a:rPr>
              <a:t>data/imitation_runs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00" name="Box 100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</p:sp>
      <p:sp>
        <p:nvSpPr>
          <p:cNvPr id="2" name="Box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800" dirty="0">
                <a:b/>
                <a:solidFill>
                  <a:srgbClr val="1F2937"/>
                </a:solidFill>
                <a:latin typeface="Microsoft YaHei"/>
                <a:ea typeface="Microsoft YaHei"/>
              </a:rPr>
              <a:t>3. 数据录制模块</a:t>
            </a:r>
            <a:endParaRPr lang="zh-CN"/>
          </a:p>
        </p:txBody>
      </p:sp>
      <p:sp>
        <p:nvSpPr>
          <p:cNvPr id="4" name="TextBox 4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demo_recorder 负责同步 joint state、动作命令和腕部相机</a:t>
            </a:r>
            <a:endParaRPr lang="zh-CN"/>
          </a:p>
        </p:txBody>
      </p:sp>
      <p:sp>
        <p:nvSpPr>
          <p:cNvPr id="5" name="TextBox 5"/>
          <p:cNvSpPr txBox="1"/>
          <p:nvPr/>
        </p:nvSpPr>
        <p:spPr>
          <a:xfrm>
            <a:off x="731520" y="1417320"/>
            <a:ext cx="5349240" cy="4389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28600" indent="-171450">
              <a:buChar char="•"/>
            </a:pPr>
            <a:r>
              <a:rPr lang="zh-CN" sz="1800" dirty="0">
                <a:solidFill>
                  <a:srgbClr val="1F2937"/>
                </a:solidFill>
                <a:latin typeface="Microsoft YaHei"/>
                <a:ea typeface="Microsoft YaHei"/>
              </a:rPr>
              <a:t>启动右腕相机：/right_wrist_camera/image_raw</a:t>
            </a:r>
            <a:endParaRPr lang="zh-CN"/>
          </a:p>
          <a:p>
            <a:pPr marL="228600" indent="-171450">
              <a:buChar char="•"/>
            </a:pPr>
            <a:r>
              <a:rPr lang="zh-CN" sz="1800" dirty="0">
                <a:solidFill>
                  <a:srgbClr val="1F2937"/>
                </a:solidFill>
                <a:latin typeface="Microsoft YaHei"/>
                <a:ea typeface="Microsoft YaHei"/>
              </a:rPr>
              <a:t>启动真机控制栈和键盘遥操作</a:t>
            </a:r>
            <a:endParaRPr lang="zh-CN"/>
          </a:p>
          <a:p>
            <a:pPr marL="228600" indent="-171450">
              <a:buChar char="•"/>
            </a:pPr>
            <a:r>
              <a:rPr lang="zh-CN" sz="1800" dirty="0">
                <a:solidFill>
                  <a:srgbClr val="1F2937"/>
                </a:solidFill>
                <a:latin typeface="Microsoft YaHei"/>
                <a:ea typeface="Microsoft YaHei"/>
              </a:rPr>
              <a:t>demo_control start / stop 控制 episode 边界</a:t>
            </a:r>
            <a:endParaRPr lang="zh-CN"/>
          </a:p>
          <a:p>
            <a:pPr marL="228600" indent="-171450">
              <a:buChar char="•"/>
            </a:pPr>
            <a:r>
              <a:rPr lang="zh-CN" sz="1800" dirty="0">
                <a:solidFill>
                  <a:srgbClr val="1F2937"/>
                </a:solidFill>
                <a:latin typeface="Microsoft YaHei"/>
                <a:ea typeface="Microsoft YaHei"/>
              </a:rPr>
              <a:t>成功示范标记 valid_for_training=true</a:t>
            </a:r>
            <a:endParaRPr lang="zh-CN"/>
          </a:p>
          <a:p>
            <a:pPr marL="228600" indent="-171450">
              <a:buChar char="•"/>
            </a:pPr>
            <a:r>
              <a:rPr lang="zh-CN" sz="1800" dirty="0">
                <a:solidFill>
                  <a:srgbClr val="1F2937"/>
                </a:solidFill>
                <a:latin typeface="Microsoft YaHei"/>
                <a:ea typeface="Microsoft YaHei"/>
              </a:rPr>
              <a:t>失败示范保留但不进入训练</a:t>
            </a:r>
            <a:endParaRPr lang="zh-CN"/>
          </a:p>
        </p:txBody>
      </p:sp>
      <p:sp>
        <p:nvSpPr>
          <p:cNvPr id="6" name="Box 6"/>
          <p:cNvSpPr/>
          <p:nvPr/>
        </p:nvSpPr>
        <p:spPr>
          <a:xfrm>
            <a:off x="6492240" y="1417320"/>
            <a:ext cx="443484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812280" y="1737360"/>
            <a:ext cx="3840480" cy="2560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200" dirty="0">
                <a:b/>
                <a:solidFill>
                  <a:srgbClr val="2563EB"/>
                </a:solidFill>
                <a:latin typeface="Microsoft YaHei"/>
                <a:ea typeface="Microsoft YaHei"/>
              </a:rPr>
              <a:t>录制依赖 topic</a:t>
            </a:r>
            <a:endParaRPr lang="zh-CN"/>
          </a:p>
          <a:p>
            <a:r>
              <a:rPr lang="zh-CN" sz="1700" dirty="0">
                <a:solidFill>
                  <a:srgbClr val="1F2937"/>
                </a:solidFill>
                <a:latin typeface="Microsoft YaHei"/>
                <a:ea typeface="Microsoft YaHei"/>
              </a:rPr>
              <a:t>/joint_states</a:t>
            </a:r>
            <a:endParaRPr lang="zh-CN"/>
          </a:p>
          <a:p>
            <a:r>
              <a:rPr lang="zh-CN" sz="1700" dirty="0">
                <a:solidFill>
                  <a:srgbClr val="1F2937"/>
                </a:solidFill>
                <a:latin typeface="Microsoft YaHei"/>
                <a:ea typeface="Microsoft YaHei"/>
              </a:rPr>
              <a:t>/right_joint_command</a:t>
            </a:r>
            <a:endParaRPr lang="zh-CN"/>
          </a:p>
          <a:p>
            <a:r>
              <a:rPr lang="zh-CN" sz="1700" dirty="0">
                <a:solidFill>
                  <a:srgbClr val="1F2937"/>
                </a:solidFill>
                <a:latin typeface="Microsoft YaHei"/>
                <a:ea typeface="Microsoft YaHei"/>
              </a:rPr>
              <a:t>/open_right_gripper</a:t>
            </a:r>
            <a:endParaRPr lang="zh-CN"/>
          </a:p>
          <a:p>
            <a:r>
              <a:rPr lang="zh-CN" sz="1700" dirty="0">
                <a:solidFill>
                  <a:srgbClr val="1F2937"/>
                </a:solidFill>
                <a:latin typeface="Microsoft YaHei"/>
                <a:ea typeface="Microsoft YaHei"/>
              </a:rPr>
              <a:t>/right_wrist_camera/image_raw</a:t>
            </a:r>
            <a:endParaRPr lang="zh-CN"/>
          </a:p>
        </p:txBody>
      </p:sp>
      <p:sp>
        <p:nvSpPr>
          <p:cNvPr id="8" name="TextBox 8"/>
          <p:cNvSpPr txBox="1"/>
          <p:nvPr/>
        </p:nvSpPr>
        <p:spPr>
          <a:xfrm>
            <a:off x="6812280" y="438912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500" dirty="0">
                <a:solidFill>
                  <a:srgbClr val="64748B"/>
                </a:solidFill>
                <a:latin typeface="Microsoft YaHei"/>
                <a:ea typeface="Microsoft YaHei"/>
              </a:rPr>
              <a:t>缺失输入会写入 meta.json diagnostics</a:t>
            </a:r>
            <a:endParaRPr 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00" name="Box 100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</p:sp>
      <p:sp>
        <p:nvSpPr>
          <p:cNvPr id="2" name="Box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800" dirty="0">
                <a:b/>
                <a:solidFill>
                  <a:srgbClr val="1F2937"/>
                </a:solidFill>
                <a:latin typeface="Microsoft YaHei"/>
                <a:ea typeface="Microsoft YaHei"/>
              </a:rPr>
              <a:t>4. Episode 数据格式</a:t>
            </a:r>
            <a:endParaRPr lang="zh-CN"/>
          </a:p>
        </p:txBody>
      </p:sp>
      <p:sp>
        <p:nvSpPr>
          <p:cNvPr id="4" name="TextBox 4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每条示范保存为标准化目录，训练直接读取 robot_state/action</a:t>
            </a:r>
            <a:endParaRPr lang="zh-CN"/>
          </a:p>
        </p:txBody>
      </p:sp>
      <p:sp>
        <p:nvSpPr>
          <p:cNvPr id="5" name="Box 5"/>
          <p:cNvSpPr/>
          <p:nvPr/>
        </p:nvSpPr>
        <p:spPr>
          <a:xfrm>
            <a:off x="777240" y="1417320"/>
            <a:ext cx="5120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51560" y="1691640"/>
            <a:ext cx="4572000" cy="3611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800" dirty="0">
                <a:b/>
                <a:solidFill>
                  <a:srgbClr val="2563EB"/>
                </a:solidFill>
                <a:latin typeface="Microsoft YaHei"/>
                <a:ea typeface="Microsoft YaHei"/>
              </a:rPr>
              <a:t>episode_000001/</a:t>
            </a:r>
            <a:endParaRPr lang="zh-CN"/>
          </a:p>
          <a:p>
            <a:r>
              <a:rPr lang="zh-CN" sz="1500" dirty="0">
                <a:solidFill>
                  <a:srgbClr val="1F2937"/>
                </a:solidFill>
                <a:latin typeface="Microsoft YaHei"/>
                <a:ea typeface="Microsoft YaHei"/>
              </a:rPr>
              <a:t>meta.json / success.json</a:t>
            </a:r>
            <a:endParaRPr lang="zh-CN"/>
          </a:p>
          <a:p>
            <a:r>
              <a:rPr lang="zh-CN" sz="1500" dirty="0">
                <a:solidFill>
                  <a:srgbClr val="1F2937"/>
                </a:solidFill>
                <a:latin typeface="Microsoft YaHei"/>
                <a:ea typeface="Microsoft YaHei"/>
              </a:rPr>
              <a:t>timestamps.npy</a:t>
            </a:r>
            <a:endParaRPr lang="zh-CN"/>
          </a:p>
          <a:p>
            <a:r>
              <a:rPr lang="zh-CN" sz="1500" dirty="0">
                <a:solidFill>
                  <a:srgbClr val="1F2937"/>
                </a:solidFill>
                <a:latin typeface="Microsoft YaHei"/>
                <a:ea typeface="Microsoft YaHei"/>
              </a:rPr>
              <a:t>robot_state.npy  [T, 13]</a:t>
            </a:r>
            <a:endParaRPr lang="zh-CN"/>
          </a:p>
          <a:p>
            <a:r>
              <a:rPr lang="zh-CN" sz="1500" dirty="0">
                <a:solidFill>
                  <a:srgbClr val="1F2937"/>
                </a:solidFill>
                <a:latin typeface="Microsoft YaHei"/>
                <a:ea typeface="Microsoft YaHei"/>
              </a:rPr>
              <a:t>action.npy       [T, 7]</a:t>
            </a:r>
            <a:endParaRPr lang="zh-CN"/>
          </a:p>
          <a:p>
            <a:r>
              <a:rPr lang="zh-CN" sz="1500" dirty="0">
                <a:solidFill>
                  <a:srgbClr val="1F2937"/>
                </a:solidFill>
                <a:latin typeface="Microsoft YaHei"/>
                <a:ea typeface="Microsoft YaHei"/>
              </a:rPr>
              <a:t>joint_pos.npy / joint_vel.npy</a:t>
            </a:r>
            <a:endParaRPr lang="zh-CN"/>
          </a:p>
          <a:p>
            <a:r>
              <a:rPr lang="zh-CN" sz="1500" dirty="0">
                <a:solidFill>
                  <a:srgbClr val="1F2937"/>
                </a:solidFill>
                <a:latin typeface="Microsoft YaHei"/>
                <a:ea typeface="Microsoft YaHei"/>
              </a:rPr>
              <a:t>obs/right_wrist_camera/*.jpg</a:t>
            </a:r>
            <a:endParaRPr lang="zh-CN"/>
          </a:p>
        </p:txBody>
      </p:sp>
      <p:sp>
        <p:nvSpPr>
          <p:cNvPr id="7" name="Box 7"/>
          <p:cNvSpPr/>
          <p:nvPr/>
        </p:nvSpPr>
        <p:spPr>
          <a:xfrm>
            <a:off x="6446520" y="1417320"/>
            <a:ext cx="47548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6720840" y="1691640"/>
            <a:ext cx="42062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000" dirty="0">
                <a:b/>
                <a:solidFill>
                  <a:srgbClr val="16A34A"/>
                </a:solidFill>
                <a:latin typeface="Microsoft YaHei"/>
                <a:ea typeface="Microsoft YaHei"/>
              </a:rPr>
              <a:t>robot_state[i]</a:t>
            </a:r>
            <a:endParaRPr lang="zh-CN"/>
          </a:p>
          <a:p>
            <a:r>
              <a:rPr lang="zh-CN" sz="1700" dirty="0">
                <a:solidFill>
                  <a:srgbClr val="1F2937"/>
                </a:solidFill>
                <a:latin typeface="Microsoft YaHei"/>
                <a:ea typeface="Microsoft YaHei"/>
              </a:rPr>
              <a:t>右臂位置 6 + 速度 6 + 夹爪状态 1</a:t>
            </a:r>
            <a:endParaRPr lang="zh-CN"/>
          </a:p>
        </p:txBody>
      </p:sp>
      <p:sp>
        <p:nvSpPr>
          <p:cNvPr id="9" name="Box 9"/>
          <p:cNvSpPr/>
          <p:nvPr/>
        </p:nvSpPr>
        <p:spPr>
          <a:xfrm>
            <a:off x="6446520" y="3703320"/>
            <a:ext cx="47548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720840" y="3977639"/>
            <a:ext cx="42062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000" dirty="0">
                <a:b/>
                <a:solidFill>
                  <a:srgbClr val="7C3AED"/>
                </a:solidFill>
                <a:latin typeface="Microsoft YaHei"/>
                <a:ea typeface="Microsoft YaHei"/>
              </a:rPr>
              <a:t>action[i]</a:t>
            </a:r>
            <a:endParaRPr lang="zh-CN"/>
          </a:p>
          <a:p>
            <a:r>
              <a:rPr lang="zh-CN" sz="1700" dirty="0">
                <a:solidFill>
                  <a:srgbClr val="1F2937"/>
                </a:solidFill>
                <a:latin typeface="Microsoft YaHei"/>
                <a:ea typeface="Microsoft YaHei"/>
              </a:rPr>
              <a:t>右臂目标关节 6 + 夹爪命令 1</a:t>
            </a:r>
            <a:endParaRPr 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00" name="Box 100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</p:sp>
      <p:sp>
        <p:nvSpPr>
          <p:cNvPr id="2" name="Box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800" dirty="0">
                <a:b/>
                <a:solidFill>
                  <a:srgbClr val="1F2937"/>
                </a:solidFill>
                <a:latin typeface="Microsoft YaHei"/>
                <a:ea typeface="Microsoft YaHei"/>
              </a:rPr>
              <a:t>5. 数据质量验证</a:t>
            </a:r>
            <a:endParaRPr lang="zh-CN"/>
          </a:p>
        </p:txBody>
      </p:sp>
      <p:sp>
        <p:nvSpPr>
          <p:cNvPr id="4" name="TextBox 4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先过滤空数据和无效 episode，再进入训练</a:t>
            </a:r>
            <a:endParaRPr lang="zh-CN"/>
          </a:p>
        </p:txBody>
      </p:sp>
      <p:sp>
        <p:nvSpPr>
          <p:cNvPr id="5" name="TextBox 5"/>
          <p:cNvSpPr txBox="1"/>
          <p:nvPr/>
        </p:nvSpPr>
        <p:spPr>
          <a:xfrm>
            <a:off x="731520" y="1417320"/>
            <a:ext cx="5394960" cy="4206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28600" indent="-171450">
              <a:buChar char="•"/>
            </a:pPr>
            <a:r>
              <a:rPr lang="zh-CN" sz="1800" dirty="0">
                <a:solidFill>
                  <a:srgbClr val="1F2937"/>
                </a:solidFill>
                <a:latin typeface="Microsoft YaHei"/>
                <a:ea typeface="Microsoft YaHei"/>
              </a:rPr>
              <a:t>frames 必须大于 0</a:t>
            </a:r>
            <a:endParaRPr lang="zh-CN"/>
          </a:p>
          <a:p>
            <a:pPr marL="228600" indent="-171450">
              <a:buChar char="•"/>
            </a:pPr>
            <a:r>
              <a:rPr lang="zh-CN" sz="1800" dirty="0">
                <a:solidFill>
                  <a:srgbClr val="1F2937"/>
                </a:solidFill>
                <a:latin typeface="Microsoft YaHei"/>
                <a:ea typeface="Microsoft YaHei"/>
              </a:rPr>
              <a:t>robot_state_dim 必须等于 13</a:t>
            </a:r>
            <a:endParaRPr lang="zh-CN"/>
          </a:p>
          <a:p>
            <a:pPr marL="228600" indent="-171450">
              <a:buChar char="•"/>
            </a:pPr>
            <a:r>
              <a:rPr lang="zh-CN" sz="1800" dirty="0">
                <a:solidFill>
                  <a:srgbClr val="1F2937"/>
                </a:solidFill>
                <a:latin typeface="Microsoft YaHei"/>
                <a:ea typeface="Microsoft YaHei"/>
              </a:rPr>
              <a:t>action_dim 必须等于 7</a:t>
            </a:r>
            <a:endParaRPr lang="zh-CN"/>
          </a:p>
          <a:p>
            <a:pPr marL="228600" indent="-171450">
              <a:buChar char="•"/>
            </a:pPr>
            <a:r>
              <a:rPr lang="zh-CN" sz="1800" dirty="0">
                <a:solidFill>
                  <a:srgbClr val="1F2937"/>
                </a:solidFill>
                <a:latin typeface="Microsoft YaHei"/>
                <a:ea typeface="Microsoft YaHei"/>
              </a:rPr>
              <a:t>图像帧数与 timestamps 对齐</a:t>
            </a:r>
            <a:endParaRPr lang="zh-CN"/>
          </a:p>
          <a:p>
            <a:pPr marL="228600" indent="-171450">
              <a:buChar char="•"/>
            </a:pPr>
            <a:r>
              <a:rPr lang="zh-CN" sz="1800" dirty="0">
                <a:solidFill>
                  <a:srgbClr val="1F2937"/>
                </a:solidFill>
                <a:latin typeface="Microsoft YaHei"/>
                <a:ea typeface="Microsoft YaHei"/>
              </a:rPr>
              <a:t>不允许 NaN / Inf</a:t>
            </a:r>
            <a:endParaRPr lang="zh-CN"/>
          </a:p>
          <a:p>
            <a:pPr marL="228600" indent="-171450">
              <a:buChar char="•"/>
            </a:pPr>
            <a:r>
              <a:rPr lang="zh-CN" sz="1800" dirty="0">
                <a:solidFill>
                  <a:srgbClr val="1F2937"/>
                </a:solidFill>
                <a:latin typeface="Microsoft YaHei"/>
                <a:ea typeface="Microsoft YaHei"/>
              </a:rPr>
              <a:t>success.json 中 valid_for_training=true</a:t>
            </a:r>
            <a:endParaRPr lang="zh-CN"/>
          </a:p>
        </p:txBody>
      </p:sp>
      <p:sp>
        <p:nvSpPr>
          <p:cNvPr id="6" name="Box 6"/>
          <p:cNvSpPr/>
          <p:nvPr/>
        </p:nvSpPr>
        <p:spPr>
          <a:xfrm>
            <a:off x="6583680" y="1600200"/>
            <a:ext cx="425196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903720" y="1874519"/>
            <a:ext cx="3657600" cy="2103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200" dirty="0">
                <a:b/>
                <a:solidFill>
                  <a:srgbClr val="DC2626"/>
                </a:solidFill>
                <a:latin typeface="Microsoft YaHei"/>
                <a:ea typeface="Microsoft YaHei"/>
              </a:rPr>
              <a:t>已发现的问题</a:t>
            </a:r>
            <a:endParaRPr lang="zh-CN"/>
          </a:p>
          <a:p>
            <a:r>
              <a:rPr lang="zh-CN" sz="1700" dirty="0">
                <a:solidFill>
                  <a:srgbClr val="1F2937"/>
                </a:solidFill>
                <a:latin typeface="Microsoft YaHei"/>
                <a:ea typeface="Microsoft YaHei"/>
              </a:rPr>
              <a:t>之前 episode_000001 为 0 帧空数据</a:t>
            </a:r>
            <a:endParaRPr lang="zh-CN"/>
          </a:p>
          <a:p>
            <a:r>
              <a:rPr lang="zh-CN" sz="1700" dirty="0">
                <a:solidFill>
                  <a:srgbClr val="1F2937"/>
                </a:solidFill>
                <a:latin typeface="Microsoft YaHei"/>
                <a:ea typeface="Microsoft YaHei"/>
              </a:rPr>
              <a:t>校验器已改为 ERROR</a:t>
            </a:r>
            <a:endParaRPr lang="zh-CN"/>
          </a:p>
          <a:p>
            <a:r>
              <a:rPr lang="zh-CN" sz="1700" dirty="0">
                <a:solidFill>
                  <a:srgbClr val="1F2937"/>
                </a:solidFill>
                <a:latin typeface="Microsoft YaHei"/>
                <a:ea typeface="Microsoft YaHei"/>
              </a:rPr>
              <a:t>recorder 新增 diagnostics</a:t>
            </a:r>
            <a:endParaRPr 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00" name="Box 100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</p:sp>
      <p:sp>
        <p:nvSpPr>
          <p:cNvPr id="2" name="Box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800" dirty="0">
                <a:b/>
                <a:solidFill>
                  <a:srgbClr val="1F2937"/>
                </a:solidFill>
                <a:latin typeface="Microsoft YaHei"/>
                <a:ea typeface="Microsoft YaHei"/>
              </a:rPr>
              <a:t>6. 数据集转换</a:t>
            </a:r>
            <a:endParaRPr lang="zh-CN"/>
          </a:p>
        </p:txBody>
      </p:sp>
      <p:sp>
        <p:nvSpPr>
          <p:cNvPr id="4" name="TextBox 4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将多条 raw episode 合并为训练数据集</a:t>
            </a:r>
            <a:endParaRPr lang="zh-CN"/>
          </a:p>
        </p:txBody>
      </p:sp>
      <p:sp>
        <p:nvSpPr>
          <p:cNvPr id="5" name="Box 5"/>
          <p:cNvSpPr/>
          <p:nvPr/>
        </p:nvSpPr>
        <p:spPr>
          <a:xfrm>
            <a:off x="868680" y="1600200"/>
            <a:ext cx="3017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800" dirty="0">
                <a:b/>
                <a:solidFill>
                  <a:srgbClr val="1F2937"/>
                </a:solidFill>
                <a:latin typeface="Microsoft YaHei"/>
                <a:ea typeface="Microsoft YaHei"/>
              </a:rPr>
              <a:t>Raw Episodes</a:t>
            </a:r>
          </a:p>
        </p:txBody>
      </p:sp>
      <p:cxnSp>
        <p:nvCxnSpPr>
          <p:cNvPr id="6" name="Line 6"/>
          <p:cNvCxnSpPr/>
          <p:nvPr/>
        </p:nvCxnSpPr>
        <p:spPr>
          <a:xfrm>
            <a:off x="3886200" y="1993392"/>
            <a:ext cx="777239" cy="0"/>
          </a:xfrm>
          <a:prstGeom prst="straightConnector1">
            <a:avLst/>
          </a:prstGeom>
          <a:ln w="25400">
            <a:solidFill>
              <a:srgbClr val="2563EB"/>
            </a:solidFill>
            <a:tailEnd type="none"/>
            <a:headEnd type="triangle"/>
          </a:ln>
        </p:spPr>
      </p:cxnSp>
      <p:sp>
        <p:nvSpPr>
          <p:cNvPr id="7" name="Box 7"/>
          <p:cNvSpPr/>
          <p:nvPr/>
        </p:nvSpPr>
        <p:spPr>
          <a:xfrm>
            <a:off x="4663440" y="1600200"/>
            <a:ext cx="29718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800" dirty="0">
                <a:b/>
                <a:solidFill>
                  <a:srgbClr val="1F2937"/>
                </a:solidFill>
                <a:latin typeface="Microsoft YaHei"/>
                <a:ea typeface="Microsoft YaHei"/>
              </a:rPr>
              <a:t>convert_to_hdf5</a:t>
            </a:r>
          </a:p>
        </p:txBody>
      </p:sp>
      <p:cxnSp>
        <p:nvCxnSpPr>
          <p:cNvPr id="8" name="Line 8"/>
          <p:cNvCxnSpPr/>
          <p:nvPr/>
        </p:nvCxnSpPr>
        <p:spPr>
          <a:xfrm>
            <a:off x="7635240" y="1993392"/>
            <a:ext cx="777239" cy="0"/>
          </a:xfrm>
          <a:prstGeom prst="straightConnector1">
            <a:avLst/>
          </a:prstGeom>
          <a:ln w="25400">
            <a:solidFill>
              <a:srgbClr val="16A34A"/>
            </a:solidFill>
            <a:tailEnd type="none"/>
            <a:headEnd type="triangle"/>
          </a:ln>
        </p:spPr>
      </p:cxnSp>
      <p:sp>
        <p:nvSpPr>
          <p:cNvPr id="9" name="Box 9"/>
          <p:cNvSpPr/>
          <p:nvPr/>
        </p:nvSpPr>
        <p:spPr>
          <a:xfrm>
            <a:off x="8412480" y="1600200"/>
            <a:ext cx="2743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800" dirty="0">
                <a:b/>
                <a:solidFill>
                  <a:srgbClr val="1F2937"/>
                </a:solidFill>
                <a:latin typeface="Microsoft YaHei"/>
                <a:ea typeface="Microsoft YaHei"/>
              </a:rPr>
              <a:t>dataset.npz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8680" y="3063240"/>
            <a:ext cx="5212080" cy="1920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28600" indent="-171450">
              <a:buChar char="•"/>
            </a:pPr>
            <a:r>
              <a:rPr lang="zh-CN" sz="1800" dirty="0">
                <a:solidFill>
                  <a:srgbClr val="1F2937"/>
                </a:solidFill>
                <a:latin typeface="Microsoft YaHei"/>
                <a:ea typeface="Microsoft YaHei"/>
              </a:rPr>
              <a:t>obs_state: [N, 13]</a:t>
            </a:r>
            <a:endParaRPr lang="zh-CN"/>
          </a:p>
          <a:p>
            <a:pPr marL="228600" indent="-171450">
              <a:buChar char="•"/>
            </a:pPr>
            <a:r>
              <a:rPr lang="zh-CN" sz="1800" dirty="0">
                <a:solidFill>
                  <a:srgbClr val="1F2937"/>
                </a:solidFill>
                <a:latin typeface="Microsoft YaHei"/>
                <a:ea typeface="Microsoft YaHei"/>
              </a:rPr>
              <a:t>actions: [N, 7]</a:t>
            </a:r>
            <a:endParaRPr lang="zh-CN"/>
          </a:p>
          <a:p>
            <a:pPr marL="228600" indent="-171450">
              <a:buChar char="•"/>
            </a:pPr>
            <a:r>
              <a:rPr lang="zh-CN" sz="1800" dirty="0">
                <a:solidFill>
                  <a:srgbClr val="1F2937"/>
                </a:solidFill>
                <a:latin typeface="Microsoft YaHei"/>
                <a:ea typeface="Microsoft YaHei"/>
              </a:rPr>
              <a:t>episode_index: 样本来源</a:t>
            </a:r>
            <a:endParaRPr lang="zh-CN"/>
          </a:p>
          <a:p>
            <a:pPr marL="228600" indent="-171450">
              <a:buChar char="•"/>
            </a:pPr>
            <a:r>
              <a:rPr lang="zh-CN" sz="1800" dirty="0">
                <a:solidFill>
                  <a:srgbClr val="1F2937"/>
                </a:solidFill>
                <a:latin typeface="Microsoft YaHei"/>
                <a:ea typeface="Microsoft YaHei"/>
              </a:rPr>
              <a:t>episode_ends: episode 边界</a:t>
            </a:r>
            <a:endParaRPr lang="zh-CN"/>
          </a:p>
        </p:txBody>
      </p:sp>
      <p:sp>
        <p:nvSpPr>
          <p:cNvPr id="11" name="TextBox 11"/>
          <p:cNvSpPr txBox="1"/>
          <p:nvPr/>
        </p:nvSpPr>
        <p:spPr>
          <a:xfrm>
            <a:off x="6492240" y="3063240"/>
            <a:ext cx="4389120" cy="1920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28600" indent="-171450">
              <a:buChar char="•"/>
            </a:pPr>
            <a:r>
              <a:rPr lang="zh-CN" sz="1800" dirty="0">
                <a:solidFill>
                  <a:srgbClr val="1F2937"/>
                </a:solidFill>
                <a:latin typeface="Microsoft YaHei"/>
                <a:ea typeface="Microsoft YaHei"/>
              </a:rPr>
              <a:t>splits.json 保存训练/验证划分</a:t>
            </a:r>
            <a:endParaRPr lang="zh-CN"/>
          </a:p>
          <a:p>
            <a:pPr marL="228600" indent="-171450">
              <a:buChar char="•"/>
            </a:pPr>
            <a:r>
              <a:rPr lang="zh-CN" sz="1800" dirty="0">
                <a:solidFill>
                  <a:srgbClr val="1F2937"/>
                </a:solidFill>
                <a:latin typeface="Microsoft YaHei"/>
                <a:ea typeface="Microsoft YaHei"/>
              </a:rPr>
              <a:t>manifest.json 记录每条 episode 的样本统计</a:t>
            </a:r>
            <a:endParaRPr lang="zh-CN"/>
          </a:p>
          <a:p>
            <a:pPr marL="228600" indent="-171450">
              <a:buChar char="•"/>
            </a:pPr>
            <a:r>
              <a:rPr lang="zh-CN" sz="1800" dirty="0">
                <a:solidFill>
                  <a:srgbClr val="1F2937"/>
                </a:solidFill>
                <a:latin typeface="Microsoft YaHei"/>
                <a:ea typeface="Microsoft YaHei"/>
              </a:rPr>
              <a:t>dataset.hdf5 兼容后续扩展</a:t>
            </a:r>
            <a:endParaRPr 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00" name="Box 100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</p:sp>
      <p:sp>
        <p:nvSpPr>
          <p:cNvPr id="2" name="Box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800" dirty="0">
                <a:b/>
                <a:solidFill>
                  <a:srgbClr val="1F2937"/>
                </a:solidFill>
                <a:latin typeface="Microsoft YaHei"/>
                <a:ea typeface="Microsoft YaHei"/>
              </a:rPr>
              <a:t>7. 行为克隆模型</a:t>
            </a:r>
            <a:endParaRPr lang="zh-CN"/>
          </a:p>
        </p:txBody>
      </p:sp>
      <p:sp>
        <p:nvSpPr>
          <p:cNvPr id="4" name="TextBox 4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当前基线采用状态到动作的 MLP</a:t>
            </a:r>
            <a:endParaRPr lang="zh-CN"/>
          </a:p>
        </p:txBody>
      </p:sp>
      <p:sp>
        <p:nvSpPr>
          <p:cNvPr id="5" name="Box 5"/>
          <p:cNvSpPr/>
          <p:nvPr/>
        </p:nvSpPr>
        <p:spPr>
          <a:xfrm>
            <a:off x="914400" y="1828800"/>
            <a:ext cx="20116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800" dirty="0">
                <a:b/>
                <a:solidFill>
                  <a:srgbClr val="1F2937"/>
                </a:solidFill>
                <a:latin typeface="Microsoft YaHei"/>
                <a:ea typeface="Microsoft YaHei"/>
              </a:rPr>
              <a:t>13 维状态</a:t>
            </a:r>
          </a:p>
        </p:txBody>
      </p:sp>
      <p:cxnSp>
        <p:nvCxnSpPr>
          <p:cNvPr id="6" name="Line 6"/>
          <p:cNvCxnSpPr/>
          <p:nvPr/>
        </p:nvCxnSpPr>
        <p:spPr>
          <a:xfrm>
            <a:off x="2926080" y="2212848"/>
            <a:ext cx="1005839" cy="0"/>
          </a:xfrm>
          <a:prstGeom prst="straightConnector1">
            <a:avLst/>
          </a:prstGeom>
          <a:ln w="25400">
            <a:solidFill>
              <a:srgbClr val="16A34A"/>
            </a:solidFill>
            <a:tailEnd type="none"/>
            <a:headEnd type="triangle"/>
          </a:ln>
        </p:spPr>
      </p:cxnSp>
      <p:sp>
        <p:nvSpPr>
          <p:cNvPr id="7" name="Box 7"/>
          <p:cNvSpPr/>
          <p:nvPr/>
        </p:nvSpPr>
        <p:spPr>
          <a:xfrm>
            <a:off x="3931920" y="1508760"/>
            <a:ext cx="2971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800" dirty="0">
                <a:b/>
                <a:solidFill>
                  <a:srgbClr val="1F2937"/>
                </a:solidFill>
                <a:latin typeface="Microsoft YaHei"/>
                <a:ea typeface="Microsoft YaHei"/>
              </a:rPr>
              <a:t>
                MLP
                <a:br/>
                3 × 256 + ReLU
              </a:t>
            </a:r>
          </a:p>
        </p:txBody>
      </p:sp>
      <p:cxnSp>
        <p:nvCxnSpPr>
          <p:cNvPr id="8" name="Line 8"/>
          <p:cNvCxnSpPr/>
          <p:nvPr/>
        </p:nvCxnSpPr>
        <p:spPr>
          <a:xfrm>
            <a:off x="6903720" y="2212848"/>
            <a:ext cx="1005840" cy="0"/>
          </a:xfrm>
          <a:prstGeom prst="straightConnector1">
            <a:avLst/>
          </a:prstGeom>
          <a:ln w="25400">
            <a:solidFill>
              <a:srgbClr val="2563EB"/>
            </a:solidFill>
            <a:tailEnd type="none"/>
            <a:headEnd type="triangle"/>
          </a:ln>
        </p:spPr>
      </p:cxnSp>
      <p:sp>
        <p:nvSpPr>
          <p:cNvPr id="9" name="Box 9"/>
          <p:cNvSpPr/>
          <p:nvPr/>
        </p:nvSpPr>
        <p:spPr>
          <a:xfrm>
            <a:off x="7909560" y="1828800"/>
            <a:ext cx="20116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800" dirty="0">
                <a:b/>
                <a:solidFill>
                  <a:srgbClr val="1F2937"/>
                </a:solidFill>
                <a:latin typeface="Microsoft YaHei"/>
                <a:ea typeface="Microsoft YaHei"/>
              </a:rPr>
              <a:t>7 维动作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8680" y="3703320"/>
            <a:ext cx="493776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000" dirty="0">
                <a:solidFill>
                  <a:srgbClr val="1F2937"/>
                </a:solidFill>
                <a:latin typeface="Microsoft YaHei"/>
                <a:ea typeface="Microsoft YaHei"/>
              </a:rPr>
              <a:t>训练目标：最小化模型预测动作与人工示范动作之间的 MSE。</a:t>
            </a:r>
            <a:endParaRPr lang="zh-CN"/>
          </a:p>
        </p:txBody>
      </p:sp>
      <p:sp>
        <p:nvSpPr>
          <p:cNvPr id="11" name="TextBox 11"/>
          <p:cNvSpPr txBox="1"/>
          <p:nvPr/>
        </p:nvSpPr>
        <p:spPr>
          <a:xfrm>
            <a:off x="6400800" y="3703320"/>
            <a:ext cx="438912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000" dirty="0">
                <a:solidFill>
                  <a:srgbClr val="1F2937"/>
                </a:solidFill>
                <a:latin typeface="Microsoft YaHei"/>
                <a:ea typeface="Microsoft YaHei"/>
              </a:rPr>
              <a:t>优化器：AdamW；默认 batch=128，epoch=50，自动选择 CPU/CUDA。</a:t>
            </a:r>
            <a:endParaRPr 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00" name="Box 100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</p:sp>
      <p:sp>
        <p:nvSpPr>
          <p:cNvPr id="2" name="Box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800" dirty="0">
                <a:b/>
                <a:solidFill>
                  <a:srgbClr val="1F2937"/>
                </a:solidFill>
                <a:latin typeface="Microsoft YaHei"/>
                <a:ea typeface="Microsoft YaHei"/>
              </a:rPr>
              <a:t>8. 训练产物与评估指标</a:t>
            </a:r>
            <a:endParaRPr lang="zh-CN"/>
          </a:p>
        </p:txBody>
      </p:sp>
      <p:sp>
        <p:nvSpPr>
          <p:cNvPr id="4" name="TextBox 4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以 best validation loss 选择部署 checkpoint</a:t>
            </a:r>
            <a:endParaRPr lang="zh-CN"/>
          </a:p>
        </p:txBody>
      </p:sp>
      <p:sp>
        <p:nvSpPr>
          <p:cNvPr id="5" name="TextBox 5"/>
          <p:cNvSpPr txBox="1"/>
          <p:nvPr/>
        </p:nvSpPr>
        <p:spPr>
          <a:xfrm>
            <a:off x="731520" y="1417320"/>
            <a:ext cx="5394960" cy="448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28600" indent="-171450">
              <a:buChar char="•"/>
            </a:pPr>
            <a:r>
              <a:rPr lang="zh-CN" sz="1800" dirty="0">
                <a:solidFill>
                  <a:srgbClr val="1F2937"/>
                </a:solidFill>
                <a:latin typeface="Microsoft YaHei"/>
                <a:ea typeface="Microsoft YaHei"/>
              </a:rPr>
              <a:t>训练命令：ros2 run robot_imitation_pipeline train_bc</a:t>
            </a:r>
            <a:endParaRPr lang="zh-CN"/>
          </a:p>
          <a:p>
            <a:pPr marL="228600" indent="-171450">
              <a:buChar char="•"/>
            </a:pPr>
            <a:r>
              <a:rPr lang="zh-CN" sz="1800" dirty="0">
                <a:solidFill>
                  <a:srgbClr val="1F2937"/>
                </a:solidFill>
                <a:latin typeface="Microsoft YaHei"/>
                <a:ea typeface="Microsoft YaHei"/>
              </a:rPr>
              <a:t>输出目录：data/imitation_runs/bc_state</a:t>
            </a:r>
            <a:endParaRPr lang="zh-CN"/>
          </a:p>
          <a:p>
            <a:pPr marL="228600" indent="-171450">
              <a:buChar char="•"/>
            </a:pPr>
            <a:r>
              <a:rPr lang="zh-CN" sz="1800" dirty="0">
                <a:solidFill>
                  <a:srgbClr val="1F2937"/>
                </a:solidFill>
                <a:latin typeface="Microsoft YaHei"/>
                <a:ea typeface="Microsoft YaHei"/>
              </a:rPr>
              <a:t>best.pt：验证集 loss 最低的模型</a:t>
            </a:r>
            <a:endParaRPr lang="zh-CN"/>
          </a:p>
          <a:p>
            <a:pPr marL="228600" indent="-171450">
              <a:buChar char="•"/>
            </a:pPr>
            <a:r>
              <a:rPr lang="zh-CN" sz="1800" dirty="0">
                <a:solidFill>
                  <a:srgbClr val="1F2937"/>
                </a:solidFill>
                <a:latin typeface="Microsoft YaHei"/>
                <a:ea typeface="Microsoft YaHei"/>
              </a:rPr>
              <a:t>last.pt：最后一个 epoch 的模型</a:t>
            </a:r>
            <a:endParaRPr lang="zh-CN"/>
          </a:p>
          <a:p>
            <a:pPr marL="228600" indent="-171450">
              <a:buChar char="•"/>
            </a:pPr>
            <a:r>
              <a:rPr lang="zh-CN" sz="1800" dirty="0">
                <a:solidFill>
                  <a:srgbClr val="1F2937"/>
                </a:solidFill>
                <a:latin typeface="Microsoft YaHei"/>
                <a:ea typeface="Microsoft YaHei"/>
              </a:rPr>
              <a:t>checkpoint 保存 input_dim、action_dim、config、epoch、val_loss</a:t>
            </a:r>
            <a:endParaRPr lang="zh-CN"/>
          </a:p>
        </p:txBody>
      </p:sp>
      <p:sp>
        <p:nvSpPr>
          <p:cNvPr id="6" name="Box 6"/>
          <p:cNvSpPr/>
          <p:nvPr/>
        </p:nvSpPr>
        <p:spPr>
          <a:xfrm>
            <a:off x="6537960" y="1600200"/>
            <a:ext cx="429768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858000" y="1874519"/>
            <a:ext cx="3657600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200" dirty="0">
                <a:b/>
                <a:solidFill>
                  <a:srgbClr val="2563EB"/>
                </a:solidFill>
                <a:latin typeface="Microsoft YaHei"/>
                <a:ea typeface="Microsoft YaHei"/>
              </a:rPr>
              <a:t>汇报建议统计</a:t>
            </a:r>
            <a:endParaRPr lang="zh-CN"/>
          </a:p>
          <a:p>
            <a:r>
              <a:rPr lang="zh-CN" sz="1700" dirty="0">
                <a:solidFill>
                  <a:srgbClr val="1F2937"/>
                </a:solidFill>
                <a:latin typeface="Microsoft YaHei"/>
                <a:ea typeface="Microsoft YaHei"/>
              </a:rPr>
              <a:t>episode 数量</a:t>
            </a:r>
            <a:endParaRPr lang="zh-CN"/>
          </a:p>
          <a:p>
            <a:r>
              <a:rPr lang="zh-CN" sz="1700" dirty="0">
                <a:solidFill>
                  <a:srgbClr val="1F2937"/>
                </a:solidFill>
                <a:latin typeface="Microsoft YaHei"/>
                <a:ea typeface="Microsoft YaHei"/>
              </a:rPr>
              <a:t>总样本数 N</a:t>
            </a:r>
            <a:endParaRPr lang="zh-CN"/>
          </a:p>
          <a:p>
            <a:r>
              <a:rPr lang="zh-CN" sz="1700" dirty="0">
                <a:solidFill>
                  <a:srgbClr val="1F2937"/>
                </a:solidFill>
                <a:latin typeface="Microsoft YaHei"/>
                <a:ea typeface="Microsoft YaHei"/>
              </a:rPr>
              <a:t>训练/验证划分</a:t>
            </a:r>
            <a:endParaRPr lang="zh-CN"/>
          </a:p>
          <a:p>
            <a:r>
              <a:rPr lang="zh-CN" sz="1700" dirty="0">
                <a:solidFill>
                  <a:srgbClr val="1F2937"/>
                </a:solidFill>
                <a:latin typeface="Microsoft YaHei"/>
                <a:ea typeface="Microsoft YaHei"/>
              </a:rPr>
              <a:t>best val_loss</a:t>
            </a:r>
            <a:endParaRPr lang="zh-CN"/>
          </a:p>
          <a:p>
            <a:r>
              <a:rPr lang="zh-CN" sz="1700" dirty="0">
                <a:solidFill>
                  <a:srgbClr val="1F2937"/>
                </a:solidFill>
                <a:latin typeface="Microsoft YaHei"/>
                <a:ea typeface="Microsoft YaHei"/>
              </a:rPr>
              <a:t>dry-run / 真机测试结果</a:t>
            </a:r>
            <a:endParaRPr 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00" name="Box 100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</p:sp>
      <p:sp>
        <p:nvSpPr>
          <p:cNvPr id="2" name="Box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800" dirty="0">
                <a:b/>
                <a:solidFill>
                  <a:srgbClr val="1F2937"/>
                </a:solidFill>
                <a:latin typeface="Microsoft YaHei"/>
                <a:ea typeface="Microsoft YaHei"/>
              </a:rPr>
              <a:t>9. ROS 真机推理部署</a:t>
            </a:r>
            <a:endParaRPr lang="zh-CN"/>
          </a:p>
        </p:txBody>
      </p:sp>
      <p:sp>
        <p:nvSpPr>
          <p:cNvPr id="4" name="TextBox 4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新增 policy_inference.launch.py，可 dry-run 也可发布真机命令</a:t>
            </a:r>
            <a:endParaRPr lang="zh-CN"/>
          </a:p>
        </p:txBody>
      </p:sp>
      <p:sp>
        <p:nvSpPr>
          <p:cNvPr id="5" name="TextBox 5"/>
          <p:cNvSpPr txBox="1"/>
          <p:nvPr/>
        </p:nvSpPr>
        <p:spPr>
          <a:xfrm>
            <a:off x="731520" y="1325880"/>
            <a:ext cx="5394960" cy="4526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28600" indent="-171450">
              <a:buChar char="•"/>
            </a:pPr>
            <a:r>
              <a:rPr lang="zh-CN" sz="1800" dirty="0">
                <a:solidFill>
                  <a:srgbClr val="1F2937"/>
                </a:solidFill>
                <a:latin typeface="Microsoft YaHei"/>
                <a:ea typeface="Microsoft YaHei"/>
              </a:rPr>
              <a:t>加载 data/imitation_runs/bc_state/best.pt</a:t>
            </a:r>
            <a:endParaRPr lang="zh-CN"/>
          </a:p>
          <a:p>
            <a:pPr marL="228600" indent="-171450">
              <a:buChar char="•"/>
            </a:pPr>
            <a:r>
              <a:rPr lang="zh-CN" sz="1800" dirty="0">
                <a:solidFill>
                  <a:srgbClr val="1F2937"/>
                </a:solidFill>
                <a:latin typeface="Microsoft YaHei"/>
                <a:ea typeface="Microsoft YaHei"/>
              </a:rPr>
              <a:t>订阅 /joint_states 构造 13 维输入</a:t>
            </a:r>
            <a:endParaRPr lang="zh-CN"/>
          </a:p>
          <a:p>
            <a:pPr marL="228600" indent="-171450">
              <a:buChar char="•"/>
            </a:pPr>
            <a:r>
              <a:rPr lang="zh-CN" sz="1800" dirty="0">
                <a:solidFill>
                  <a:srgbClr val="1F2937"/>
                </a:solidFill>
                <a:latin typeface="Microsoft YaHei"/>
                <a:ea typeface="Microsoft YaHei"/>
              </a:rPr>
              <a:t>MLP 输出右臂目标和夹爪命令</a:t>
            </a:r>
            <a:endParaRPr lang="zh-CN"/>
          </a:p>
          <a:p>
            <a:pPr marL="228600" indent="-171450">
              <a:buChar char="•"/>
            </a:pPr>
            <a:r>
              <a:rPr lang="zh-CN" sz="1800" dirty="0">
                <a:solidFill>
                  <a:srgbClr val="1F2937"/>
                </a:solidFill>
                <a:latin typeface="Microsoft YaHei"/>
                <a:ea typeface="Microsoft YaHei"/>
              </a:rPr>
              <a:t>发布 /right_joint_command 与 /open_right_gripper</a:t>
            </a:r>
            <a:endParaRPr lang="zh-CN"/>
          </a:p>
          <a:p>
            <a:pPr marL="228600" indent="-171450">
              <a:buChar char="•"/>
            </a:pPr>
            <a:r>
              <a:rPr lang="zh-CN" sz="1800" dirty="0">
                <a:solidFill>
                  <a:srgbClr val="1F2937"/>
                </a:solidFill>
                <a:latin typeface="Microsoft YaHei"/>
                <a:ea typeface="Microsoft YaHei"/>
              </a:rPr>
              <a:t>默认 publish_commands=false，仅打印预测</a:t>
            </a:r>
            <a:endParaRPr lang="zh-CN"/>
          </a:p>
        </p:txBody>
      </p:sp>
      <p:sp>
        <p:nvSpPr>
          <p:cNvPr id="6" name="Box 6"/>
          <p:cNvSpPr/>
          <p:nvPr/>
        </p:nvSpPr>
        <p:spPr>
          <a:xfrm>
            <a:off x="6400800" y="1508760"/>
            <a:ext cx="45262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720840" y="1783080"/>
            <a:ext cx="3931920" cy="2423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200" dirty="0">
                <a:b/>
                <a:solidFill>
                  <a:srgbClr val="16A34A"/>
                </a:solidFill>
                <a:latin typeface="Microsoft YaHei"/>
                <a:ea typeface="Microsoft YaHei"/>
              </a:rPr>
              <a:t>安全参数</a:t>
            </a:r>
            <a:endParaRPr lang="zh-CN"/>
          </a:p>
          <a:p>
            <a:r>
              <a:rPr lang="zh-CN" sz="1700" dirty="0">
                <a:solidFill>
                  <a:srgbClr val="1F2937"/>
                </a:solidFill>
                <a:latin typeface="Microsoft YaHei"/>
                <a:ea typeface="Microsoft YaHei"/>
              </a:rPr>
              <a:t>max_joint_step_rad 限制单步变化</a:t>
            </a:r>
            <a:endParaRPr lang="zh-CN"/>
          </a:p>
          <a:p>
            <a:r>
              <a:rPr lang="zh-CN" sz="1700" dirty="0">
                <a:solidFill>
                  <a:srgbClr val="1F2937"/>
                </a:solidFill>
                <a:latin typeface="Microsoft YaHei"/>
                <a:ea typeface="Microsoft YaHei"/>
              </a:rPr>
              <a:t>stale_joint_state_sec 超时保护</a:t>
            </a:r>
            <a:endParaRPr lang="zh-CN"/>
          </a:p>
          <a:p>
            <a:r>
              <a:rPr lang="zh-CN" sz="1700" dirty="0">
                <a:solidFill>
                  <a:srgbClr val="1F2937"/>
                </a:solidFill>
                <a:latin typeface="Microsoft YaHei"/>
                <a:ea typeface="Microsoft YaHei"/>
              </a:rPr>
              <a:t>publish_commands 显式开关</a:t>
            </a:r>
            <a:endParaRPr lang="zh-CN"/>
          </a:p>
          <a:p>
            <a:r>
              <a:rPr lang="zh-CN" sz="1700" dirty="0">
                <a:solidFill>
                  <a:srgbClr val="1F2937"/>
                </a:solidFill>
                <a:latin typeface="Microsoft YaHei"/>
                <a:ea typeface="Microsoft YaHei"/>
              </a:rPr>
              <a:t>inference_rate_hz 控制频率</a:t>
            </a:r>
            <a:endParaRPr 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00" name="Box 100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</p:sp>
      <p:sp>
        <p:nvSpPr>
          <p:cNvPr id="2" name="Box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800" dirty="0">
                <a:b/>
                <a:solidFill>
                  <a:srgbClr val="1F2937"/>
                </a:solidFill>
                <a:latin typeface="Microsoft YaHei"/>
                <a:ea typeface="Microsoft YaHei"/>
              </a:rPr>
              <a:t>10. 真机运行安全流程</a:t>
            </a:r>
            <a:endParaRPr lang="zh-CN"/>
          </a:p>
        </p:txBody>
      </p:sp>
      <p:sp>
        <p:nvSpPr>
          <p:cNvPr id="4" name="TextBox 4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先 dry-run，再小步长、低风险执行</a:t>
            </a:r>
            <a:endParaRPr lang="zh-CN"/>
          </a:p>
        </p:txBody>
      </p:sp>
      <p:sp>
        <p:nvSpPr>
          <p:cNvPr id="5" name="Box 5"/>
          <p:cNvSpPr/>
          <p:nvPr/>
        </p:nvSpPr>
        <p:spPr>
          <a:xfrm>
            <a:off x="822960" y="1508760"/>
            <a:ext cx="23774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600" dirty="0">
                <a:b/>
                <a:solidFill>
                  <a:srgbClr val="1F2937"/>
                </a:solidFill>
                <a:latin typeface="Microsoft YaHei"/>
                <a:ea typeface="Microsoft YaHei"/>
              </a:rPr>
              <a:t>1. 启动控制栈</a:t>
            </a:r>
          </a:p>
        </p:txBody>
      </p:sp>
      <p:sp>
        <p:nvSpPr>
          <p:cNvPr id="6" name="Box 6"/>
          <p:cNvSpPr/>
          <p:nvPr/>
        </p:nvSpPr>
        <p:spPr>
          <a:xfrm>
            <a:off x="3520440" y="1508760"/>
            <a:ext cx="23774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600" dirty="0">
                <a:b/>
                <a:solidFill>
                  <a:srgbClr val="1F2937"/>
                </a:solidFill>
                <a:latin typeface="Microsoft YaHei"/>
                <a:ea typeface="Microsoft YaHei"/>
              </a:rPr>
              <a:t>2. 检查 joint state</a:t>
            </a:r>
          </a:p>
        </p:txBody>
      </p:sp>
      <p:sp>
        <p:nvSpPr>
          <p:cNvPr id="7" name="Box 7"/>
          <p:cNvSpPr/>
          <p:nvPr/>
        </p:nvSpPr>
        <p:spPr>
          <a:xfrm>
            <a:off x="6217920" y="1508760"/>
            <a:ext cx="23774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600" dirty="0">
                <a:b/>
                <a:solidFill>
                  <a:srgbClr val="1F2937"/>
                </a:solidFill>
                <a:latin typeface="Microsoft YaHei"/>
                <a:ea typeface="Microsoft YaHei"/>
              </a:rPr>
              <a:t>3. Policy dry-run</a:t>
            </a:r>
          </a:p>
        </p:txBody>
      </p:sp>
      <p:sp>
        <p:nvSpPr>
          <p:cNvPr id="8" name="Box 8"/>
          <p:cNvSpPr/>
          <p:nvPr/>
        </p:nvSpPr>
        <p:spPr>
          <a:xfrm>
            <a:off x="8915400" y="1508760"/>
            <a:ext cx="23774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600" dirty="0">
                <a:b/>
                <a:solidFill>
                  <a:srgbClr val="1F2937"/>
                </a:solidFill>
                <a:latin typeface="Microsoft YaHei"/>
                <a:ea typeface="Microsoft YaHei"/>
              </a:rPr>
              <a:t>4. 真机发布</a:t>
            </a:r>
          </a:p>
        </p:txBody>
      </p:sp>
      <p:cxnSp>
        <p:nvCxnSpPr>
          <p:cNvPr id="9" name="Line 9"/>
          <p:cNvCxnSpPr/>
          <p:nvPr/>
        </p:nvCxnSpPr>
        <p:spPr>
          <a:xfrm>
            <a:off x="3200400" y="1847088"/>
            <a:ext cx="320040" cy="0"/>
          </a:xfrm>
          <a:prstGeom prst="straightConnector1">
            <a:avLst/>
          </a:prstGeom>
          <a:ln w="25400">
            <a:solidFill>
              <a:srgbClr val="2563EB"/>
            </a:solidFill>
            <a:tailEnd type="none"/>
            <a:headEnd type="triangle"/>
          </a:ln>
        </p:spPr>
      </p:cxnSp>
      <p:cxnSp>
        <p:nvCxnSpPr>
          <p:cNvPr id="10" name="Line 10"/>
          <p:cNvCxnSpPr/>
          <p:nvPr/>
        </p:nvCxnSpPr>
        <p:spPr>
          <a:xfrm>
            <a:off x="5897880" y="1847088"/>
            <a:ext cx="320039" cy="0"/>
          </a:xfrm>
          <a:prstGeom prst="straightConnector1">
            <a:avLst/>
          </a:prstGeom>
          <a:ln w="25400">
            <a:solidFill>
              <a:srgbClr val="2563EB"/>
            </a:solidFill>
            <a:tailEnd type="none"/>
            <a:headEnd type="triangle"/>
          </a:ln>
        </p:spPr>
      </p:cxnSp>
      <p:cxnSp>
        <p:nvCxnSpPr>
          <p:cNvPr id="11" name="Line 11"/>
          <p:cNvCxnSpPr/>
          <p:nvPr/>
        </p:nvCxnSpPr>
        <p:spPr>
          <a:xfrm>
            <a:off x="8595360" y="1847088"/>
            <a:ext cx="320039" cy="0"/>
          </a:xfrm>
          <a:prstGeom prst="straightConnector1">
            <a:avLst/>
          </a:prstGeom>
          <a:ln w="25400">
            <a:solidFill>
              <a:srgbClr val="16A34A"/>
            </a:solidFill>
            <a:tailEnd type="none"/>
            <a:headEnd type="triangle"/>
          </a:ln>
        </p:spPr>
      </p:cxnSp>
      <p:sp>
        <p:nvSpPr>
          <p:cNvPr id="12" name="TextBox 12"/>
          <p:cNvSpPr txBox="1"/>
          <p:nvPr/>
        </p:nvSpPr>
        <p:spPr>
          <a:xfrm>
            <a:off x="914400" y="2971800"/>
            <a:ext cx="1005840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28600" indent="-171450">
              <a:buChar char="•"/>
            </a:pPr>
            <a:r>
              <a:rPr lang="zh-CN" sz="2000" dirty="0">
                <a:solidFill>
                  <a:srgbClr val="1F2937"/>
                </a:solidFill>
                <a:latin typeface="Microsoft YaHei"/>
                <a:ea typeface="Microsoft YaHei"/>
              </a:rPr>
              <a:t>机器人处于示范数据覆盖过的初始姿态附近</a:t>
            </a:r>
            <a:endParaRPr lang="zh-CN"/>
          </a:p>
          <a:p>
            <a:pPr marL="228600" indent="-171450">
              <a:buChar char="•"/>
            </a:pPr>
            <a:r>
              <a:rPr lang="zh-CN" sz="2000" dirty="0">
                <a:solidFill>
                  <a:srgbClr val="1F2937"/>
                </a:solidFill>
                <a:latin typeface="Microsoft YaHei"/>
                <a:ea typeface="Microsoft YaHei"/>
              </a:rPr>
              <a:t>急停可用，周围无人员和障碍物</a:t>
            </a:r>
            <a:endParaRPr lang="zh-CN"/>
          </a:p>
          <a:p>
            <a:pPr marL="228600" indent="-171450">
              <a:buChar char="•"/>
            </a:pPr>
            <a:r>
              <a:rPr lang="zh-CN" sz="2000" dirty="0">
                <a:solidFill>
                  <a:srgbClr val="1F2937"/>
                </a:solidFill>
                <a:latin typeface="Microsoft YaHei"/>
                <a:ea typeface="Microsoft YaHei"/>
              </a:rPr>
              <a:t>第一次执行建议 max_joint_step_rad=0.03~0.08 rad</a:t>
            </a:r>
            <a:endParaRPr lang="zh-CN"/>
          </a:p>
          <a:p>
            <a:pPr marL="228600" indent="-171450">
              <a:buChar char="•"/>
            </a:pPr>
            <a:r>
              <a:rPr lang="zh-CN" sz="2000" dirty="0">
                <a:solidFill>
                  <a:srgbClr val="1F2937"/>
                </a:solidFill>
                <a:latin typeface="Microsoft YaHei"/>
                <a:ea typeface="Microsoft YaHei"/>
              </a:rPr>
              <a:t>先观察 dry-run 输出范围，再打开 publish_commands=true</a:t>
            </a:r>
            <a:endParaRPr 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00" name="Box 100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</p:sp>
      <p:sp>
        <p:nvSpPr>
          <p:cNvPr id="2" name="Box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800" dirty="0">
                <a:b/>
                <a:solidFill>
                  <a:srgbClr val="1F2937"/>
                </a:solidFill>
                <a:latin typeface="Microsoft YaHei"/>
                <a:ea typeface="Microsoft YaHei"/>
              </a:rPr>
              <a:t>11. 当前状态与后续计划</a:t>
            </a:r>
            <a:endParaRPr lang="zh-CN"/>
          </a:p>
        </p:txBody>
      </p:sp>
      <p:sp>
        <p:nvSpPr>
          <p:cNvPr id="4" name="TextBox 4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已完成工程闭环，下一步提升策略能力</a:t>
            </a:r>
            <a:endParaRPr lang="zh-CN"/>
          </a:p>
        </p:txBody>
      </p:sp>
      <p:sp>
        <p:nvSpPr>
          <p:cNvPr id="5" name="Box 5"/>
          <p:cNvSpPr/>
          <p:nvPr/>
        </p:nvSpPr>
        <p:spPr>
          <a:xfrm>
            <a:off x="777240" y="1417320"/>
            <a:ext cx="51663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51560" y="1737360"/>
            <a:ext cx="4572000" cy="3246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200" dirty="0">
                <a:b/>
                <a:solidFill>
                  <a:srgbClr val="16A34A"/>
                </a:solidFill>
                <a:latin typeface="Microsoft YaHei"/>
                <a:ea typeface="Microsoft YaHei"/>
              </a:rPr>
              <a:t>已完成</a:t>
            </a:r>
            <a:endParaRPr lang="zh-CN"/>
          </a:p>
          <a:p>
            <a:pPr marL="228600" indent="-171450">
              <a:buChar char="•"/>
            </a:pPr>
            <a:r>
              <a:rPr lang="zh-CN" sz="1700" dirty="0">
                <a:solidFill>
                  <a:srgbClr val="1F2937"/>
                </a:solidFill>
                <a:latin typeface="Microsoft YaHei"/>
                <a:ea typeface="Microsoft YaHei"/>
              </a:rPr>
              <a:t>数据录制与 episode 标准化</a:t>
            </a:r>
            <a:endParaRPr lang="zh-CN"/>
          </a:p>
          <a:p>
            <a:pPr marL="228600" indent="-171450">
              <a:buChar char="•"/>
            </a:pPr>
            <a:r>
              <a:rPr lang="zh-CN" sz="1700" dirty="0">
                <a:solidFill>
                  <a:srgbClr val="1F2937"/>
                </a:solidFill>
                <a:latin typeface="Microsoft YaHei"/>
                <a:ea typeface="Microsoft YaHei"/>
              </a:rPr>
              <a:t>空数据检测与 diagnostics</a:t>
            </a:r>
            <a:endParaRPr lang="zh-CN"/>
          </a:p>
          <a:p>
            <a:pPr marL="228600" indent="-171450">
              <a:buChar char="•"/>
            </a:pPr>
            <a:r>
              <a:rPr lang="zh-CN" sz="1700" dirty="0">
                <a:solidFill>
                  <a:srgbClr val="1F2937"/>
                </a:solidFill>
                <a:latin typeface="Microsoft YaHei"/>
                <a:ea typeface="Microsoft YaHei"/>
              </a:rPr>
              <a:t>数据集转换与 BC 训练</a:t>
            </a:r>
            <a:endParaRPr lang="zh-CN"/>
          </a:p>
          <a:p>
            <a:pPr marL="228600" indent="-171450">
              <a:buChar char="•"/>
            </a:pPr>
            <a:r>
              <a:rPr lang="zh-CN" sz="1700" dirty="0">
                <a:solidFill>
                  <a:srgbClr val="1F2937"/>
                </a:solidFill>
                <a:latin typeface="Microsoft YaHei"/>
                <a:ea typeface="Microsoft YaHei"/>
              </a:rPr>
              <a:t>ROS policy 推理 launch</a:t>
            </a:r>
            <a:endParaRPr lang="zh-CN"/>
          </a:p>
          <a:p>
            <a:pPr marL="228600" indent="-171450">
              <a:buChar char="•"/>
            </a:pPr>
            <a:r>
              <a:rPr lang="zh-CN" sz="1700" dirty="0">
                <a:solidFill>
                  <a:srgbClr val="1F2937"/>
                </a:solidFill>
                <a:latin typeface="Microsoft YaHei"/>
                <a:ea typeface="Microsoft YaHei"/>
              </a:rPr>
              <a:t>模仿学习汇报文档与 PPT</a:t>
            </a:r>
            <a:endParaRPr lang="zh-CN"/>
          </a:p>
        </p:txBody>
      </p:sp>
      <p:sp>
        <p:nvSpPr>
          <p:cNvPr id="7" name="Box 7"/>
          <p:cNvSpPr/>
          <p:nvPr/>
        </p:nvSpPr>
        <p:spPr>
          <a:xfrm>
            <a:off x="6355080" y="1417320"/>
            <a:ext cx="49834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6629400" y="1737360"/>
            <a:ext cx="4389120" cy="3246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200" dirty="0">
                <a:b/>
                <a:solidFill>
                  <a:srgbClr val="2563EB"/>
                </a:solidFill>
                <a:latin typeface="Microsoft YaHei"/>
                <a:ea typeface="Microsoft YaHei"/>
              </a:rPr>
              <a:t>下一步</a:t>
            </a:r>
            <a:endParaRPr lang="zh-CN"/>
          </a:p>
          <a:p>
            <a:pPr marL="228600" indent="-171450">
              <a:buChar char="•"/>
            </a:pPr>
            <a:r>
              <a:rPr lang="zh-CN" sz="1700" dirty="0">
                <a:solidFill>
                  <a:srgbClr val="1F2937"/>
                </a:solidFill>
                <a:latin typeface="Microsoft YaHei"/>
                <a:ea typeface="Microsoft YaHei"/>
              </a:rPr>
              <a:t>采集更多有效成功示范</a:t>
            </a:r>
            <a:endParaRPr lang="zh-CN"/>
          </a:p>
          <a:p>
            <a:pPr marL="228600" indent="-171450">
              <a:buChar char="•"/>
            </a:pPr>
            <a:r>
              <a:rPr lang="zh-CN" sz="1700" dirty="0">
                <a:solidFill>
                  <a:srgbClr val="1F2937"/>
                </a:solidFill>
                <a:latin typeface="Microsoft YaHei"/>
                <a:ea typeface="Microsoft YaHei"/>
              </a:rPr>
              <a:t>记录并汇报 train/val loss</a:t>
            </a:r>
            <a:endParaRPr lang="zh-CN"/>
          </a:p>
          <a:p>
            <a:pPr marL="228600" indent="-171450">
              <a:buChar char="•"/>
            </a:pPr>
            <a:r>
              <a:rPr lang="zh-CN" sz="1700" dirty="0">
                <a:solidFill>
                  <a:srgbClr val="1F2937"/>
                </a:solidFill>
                <a:latin typeface="Microsoft YaHei"/>
                <a:ea typeface="Microsoft YaHei"/>
              </a:rPr>
              <a:t>真机 dry-run 与小范围闭环测试</a:t>
            </a:r>
            <a:endParaRPr lang="zh-CN"/>
          </a:p>
          <a:p>
            <a:pPr marL="228600" indent="-171450">
              <a:buChar char="•"/>
            </a:pPr>
            <a:r>
              <a:rPr lang="zh-CN" sz="1700" dirty="0">
                <a:solidFill>
                  <a:srgbClr val="1F2937"/>
                </a:solidFill>
                <a:latin typeface="Microsoft YaHei"/>
                <a:ea typeface="Microsoft YaHei"/>
              </a:rPr>
              <a:t>加入视觉输入或时序模型</a:t>
            </a:r>
            <a:endParaRPr lang="zh-CN"/>
          </a:p>
          <a:p>
            <a:pPr marL="228600" indent="-171450">
              <a:buChar char="•"/>
            </a:pPr>
            <a:r>
              <a:rPr lang="zh-CN" sz="1700" dirty="0">
                <a:solidFill>
                  <a:srgbClr val="1F2937"/>
                </a:solidFill>
                <a:latin typeface="Microsoft YaHei"/>
                <a:ea typeface="Microsoft YaHei"/>
              </a:rPr>
              <a:t>动作平滑、速度限制与安全策略</a:t>
            </a:r>
            <a:endParaRPr 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00" name="Box 100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</p:sp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868680" y="1143000"/>
            <a:ext cx="1024128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3400" dirty="0">
                <a:b/>
                <a:solidFill>
                  <a:srgbClr val="1F2937"/>
                </a:solidFill>
                <a:latin typeface="Microsoft YaHei"/>
                <a:ea typeface="Microsoft YaHei"/>
              </a:rPr>
              <a:t>总结</a:t>
            </a:r>
            <a:endParaRPr lang="zh-CN"/>
          </a:p>
        </p:txBody>
      </p:sp>
      <p:sp>
        <p:nvSpPr>
          <p:cNvPr id="5" name="TextBox 5"/>
          <p:cNvSpPr txBox="1"/>
          <p:nvPr/>
        </p:nvSpPr>
        <p:spPr>
          <a:xfrm>
            <a:off x="914400" y="2057400"/>
            <a:ext cx="9966960" cy="2468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500" dirty="0">
                <a:solidFill>
                  <a:srgbClr val="1F2937"/>
                </a:solidFill>
                <a:latin typeface="Microsoft YaHei"/>
                <a:ea typeface="Microsoft YaHei"/>
              </a:rPr>
              <a:t>本阶段已经完成从真机示范录制、数据质量验证、训练数据转换、MLP 行为克隆训练，到 ROS 2 真机策略推理的完整工程链路。</a:t>
            </a:r>
            <a:endParaRPr lang="zh-CN"/>
          </a:p>
        </p:txBody>
      </p:sp>
      <p:sp>
        <p:nvSpPr>
          <p:cNvPr id="6" name="Box 6"/>
          <p:cNvSpPr/>
          <p:nvPr/>
        </p:nvSpPr>
        <p:spPr>
          <a:xfrm>
            <a:off x="914400" y="4892040"/>
            <a:ext cx="27432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800" dirty="0">
                <a:b/>
                <a:solidFill>
                  <a:srgbClr val="1F2937"/>
                </a:solidFill>
                <a:latin typeface="Microsoft YaHei"/>
                <a:ea typeface="Microsoft YaHei"/>
              </a:rPr>
              <a:t>可继续采数据</a:t>
            </a:r>
          </a:p>
        </p:txBody>
      </p:sp>
      <p:sp>
        <p:nvSpPr>
          <p:cNvPr id="7" name="Box 7"/>
          <p:cNvSpPr/>
          <p:nvPr/>
        </p:nvSpPr>
        <p:spPr>
          <a:xfrm>
            <a:off x="4709160" y="4892040"/>
            <a:ext cx="27432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800" dirty="0">
                <a:b/>
                <a:solidFill>
                  <a:srgbClr val="1F2937"/>
                </a:solidFill>
                <a:latin typeface="Microsoft YaHei"/>
                <a:ea typeface="Microsoft YaHei"/>
              </a:rPr>
              <a:t>可训练 baseline</a:t>
            </a:r>
          </a:p>
        </p:txBody>
      </p:sp>
      <p:sp>
        <p:nvSpPr>
          <p:cNvPr id="8" name="Box 8"/>
          <p:cNvSpPr/>
          <p:nvPr/>
        </p:nvSpPr>
        <p:spPr>
          <a:xfrm>
            <a:off x="8503920" y="4892040"/>
            <a:ext cx="27432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800" dirty="0">
                <a:b/>
                <a:solidFill>
                  <a:srgbClr val="1F2937"/>
                </a:solidFill>
                <a:latin typeface="Microsoft YaHei"/>
                <a:ea typeface="Microsoft YaHei"/>
              </a:rPr>
              <a:t>可接入 ROS 推理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itationTheme">
  <a:themeElements>
    <a:clrScheme name="Custom">
      <a:dk1>
        <a:srgbClr val="1F2937"/>
      </a:dk1>
      <a:lt1>
        <a:srgbClr val="FFFFFF"/>
      </a:lt1>
      <a:dk2>
        <a:srgbClr val="334155"/>
      </a:dk2>
      <a:lt2>
        <a:srgbClr val="F7F9FC"/>
      </a:lt2>
      <a:accent1>
        <a:srgbClr val="2563EB"/>
      </a:accent1>
      <a:accent2>
        <a:srgbClr val="0891B2"/>
      </a:accent2>
      <a:accent3>
        <a:srgbClr val="16A34A"/>
      </a:accent3>
      <a:accent4>
        <a:srgbClr val="EA580C"/>
      </a:accent4>
      <a:accent5>
        <a:srgbClr val="7C3AED"/>
      </a:accent5>
      <a:accent6>
        <a:srgbClr val="DC2626"/>
      </a:accent6>
      <a:hlink>
        <a:srgbClr val="2563EB"/>
      </a:hlink>
      <a:folHlink>
        <a:srgbClr val="7C3AED"/>
      </a:folHlink>
    </a:clrScheme>
    <a:fontScheme name="Custom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Custom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